
<file path=[Content_Types].xml><?xml version="1.0" encoding="utf-8"?>
<Types xmlns="http://schemas.openxmlformats.org/package/2006/content-types">
  <Default Extension="fntdata" ContentType="application/x-fontdata"/>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p:sldMasterIdLst>
    <p:sldMasterId id="2147483648" r:id="rId1"/>
  </p:sldMasterIdLst>
  <p:sldIdLst>
    <p:sldId id="256" r:id="rId2"/>
    <p:sldId id="257" r:id="rId3"/>
    <p:sldId id="258" r:id="rId4"/>
    <p:sldId id="259" r:id="rId5"/>
    <p:sldId id="260" r:id="rId6"/>
    <p:sldId id="261" r:id="rId7"/>
    <p:sldId id="262" r:id="rId8"/>
    <p:sldId id="263" r:id="rId9"/>
  </p:sldIdLst>
  <p:sldSz cx="18288000" cy="10287000"/>
  <p:notesSz cx="7315200" cy="9601200"/>
  <p:embeddedFontLst>
    <p:embeddedFont>
      <p:font typeface="Glacial Indifference Bold" panose="020B0604020202020204" charset="0"/>
      <p:regular r:id="rId10"/>
    </p:embeddedFont>
    <p:embeddedFont>
      <p:font typeface="HK Grotesk" panose="020B0604020202020204" charset="0"/>
      <p:regular r:id="rId11"/>
    </p:embeddedFont>
    <p:embeddedFont>
      <p:font typeface="HK Grotesk Bold" panose="020B0604020202020204" charset="0"/>
      <p:regular r:id="rId12"/>
    </p:embeddedFont>
    <p:embeddedFont>
      <p:font typeface="HK Grotesk Italics" panose="020B0604020202020204" charset="0"/>
      <p:regular r:id="rId13"/>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autoAdjust="0"/>
    <p:restoredTop sz="94622" autoAdjust="0"/>
  </p:normalViewPr>
  <p:slideViewPr>
    <p:cSldViewPr>
      <p:cViewPr varScale="1">
        <p:scale>
          <a:sx n="52" d="100"/>
          <a:sy n="52" d="100"/>
        </p:scale>
        <p:origin x="850" y="96"/>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font" Target="fonts/font4.fntdata"/><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font" Target="fonts/font3.fntdata"/><Relationship Id="rId17"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font" Target="fonts/font2.fntdata"/><Relationship Id="rId5" Type="http://schemas.openxmlformats.org/officeDocument/2006/relationships/slide" Target="slides/slide4.xml"/><Relationship Id="rId15" Type="http://schemas.openxmlformats.org/officeDocument/2006/relationships/viewProps" Target="viewProps.xml"/><Relationship Id="rId10" Type="http://schemas.openxmlformats.org/officeDocument/2006/relationships/font" Target="fonts/font1.fntdata"/><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presProps" Target="presProp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1D8BD707-D9CF-40AE-B4C6-C98DA3205C09}" type="datetimeFigureOut">
              <a:rPr lang="en-US" smtClean="0"/>
              <a:pPr/>
              <a:t>07-Feb-26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07-Feb-26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07-Feb-26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1D8BD707-D9CF-40AE-B4C6-C98DA3205C09}" type="datetimeFigureOut">
              <a:rPr lang="en-US" smtClean="0"/>
              <a:pPr/>
              <a:t>07-Feb-26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1D8BD707-D9CF-40AE-B4C6-C98DA3205C09}" type="datetimeFigureOut">
              <a:rPr lang="en-US" smtClean="0"/>
              <a:pPr/>
              <a:t>07-Feb-26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1D8BD707-D9CF-40AE-B4C6-C98DA3205C09}" type="datetimeFigureOut">
              <a:rPr lang="en-US" smtClean="0"/>
              <a:pPr/>
              <a:t>07-Feb-26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07-Feb-26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07-Feb-26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07-Feb-26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07-Feb-26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07-Feb-26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07-Feb-26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jpeg"/><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jpeg"/><Relationship Id="rId1" Type="http://schemas.openxmlformats.org/officeDocument/2006/relationships/slideLayout" Target="../slideLayouts/slideLayout7.xml"/><Relationship Id="rId4" Type="http://schemas.openxmlformats.org/officeDocument/2006/relationships/image" Target="../media/image3.jpeg"/></Relationships>
</file>

<file path=ppt/slides/_rels/slide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jpeg"/><Relationship Id="rId1" Type="http://schemas.openxmlformats.org/officeDocument/2006/relationships/slideLayout" Target="../slideLayouts/slideLayout7.xml"/><Relationship Id="rId4" Type="http://schemas.openxmlformats.org/officeDocument/2006/relationships/image" Target="../media/image4.png"/></Relationships>
</file>

<file path=ppt/slides/_rels/slide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jpeg"/><Relationship Id="rId1" Type="http://schemas.openxmlformats.org/officeDocument/2006/relationships/slideLayout" Target="../slideLayouts/slideLayout7.xml"/><Relationship Id="rId4" Type="http://schemas.openxmlformats.org/officeDocument/2006/relationships/image" Target="../media/image5.png"/></Relationships>
</file>

<file path=ppt/slides/_rels/slide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jpeg"/><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jpeg"/><Relationship Id="rId1" Type="http://schemas.openxmlformats.org/officeDocument/2006/relationships/slideLayout" Target="../slideLayouts/slideLayout7.xml"/><Relationship Id="rId6" Type="http://schemas.openxmlformats.org/officeDocument/2006/relationships/image" Target="../media/image8.png"/><Relationship Id="rId5" Type="http://schemas.openxmlformats.org/officeDocument/2006/relationships/image" Target="../media/image7.png"/><Relationship Id="rId4" Type="http://schemas.openxmlformats.org/officeDocument/2006/relationships/image" Target="../media/image6.png"/></Relationships>
</file>

<file path=ppt/slides/_rels/slide7.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jpeg"/><Relationship Id="rId1" Type="http://schemas.openxmlformats.org/officeDocument/2006/relationships/slideLayout" Target="../slideLayouts/slideLayout7.xml"/><Relationship Id="rId4" Type="http://schemas.openxmlformats.org/officeDocument/2006/relationships/image" Target="../media/image9.png"/></Relationships>
</file>

<file path=ppt/slides/_rels/slide8.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jpeg"/><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2"/>
            <a:stretch>
              <a:fillRect/>
            </a:stretch>
          </a:blipFill>
        </p:spPr>
      </p:sp>
      <p:sp>
        <p:nvSpPr>
          <p:cNvPr id="3" name="Freeform 3"/>
          <p:cNvSpPr/>
          <p:nvPr/>
        </p:nvSpPr>
        <p:spPr>
          <a:xfrm>
            <a:off x="4338336" y="-3273956"/>
            <a:ext cx="9611327" cy="13560956"/>
          </a:xfrm>
          <a:custGeom>
            <a:avLst/>
            <a:gdLst/>
            <a:ahLst/>
            <a:cxnLst/>
            <a:rect l="l" t="t" r="r" b="b"/>
            <a:pathLst>
              <a:path w="9611327" h="13560956">
                <a:moveTo>
                  <a:pt x="0" y="0"/>
                </a:moveTo>
                <a:lnTo>
                  <a:pt x="9611328" y="0"/>
                </a:lnTo>
                <a:lnTo>
                  <a:pt x="9611328" y="13560956"/>
                </a:lnTo>
                <a:lnTo>
                  <a:pt x="0" y="13560956"/>
                </a:lnTo>
                <a:lnTo>
                  <a:pt x="0" y="0"/>
                </a:lnTo>
                <a:close/>
              </a:path>
            </a:pathLst>
          </a:custGeom>
          <a:blipFill>
            <a:blip r:embed="rId3"/>
            <a:stretch>
              <a:fillRect/>
            </a:stretch>
          </a:blipFill>
        </p:spPr>
      </p:sp>
      <p:sp>
        <p:nvSpPr>
          <p:cNvPr id="4" name="TextBox 4"/>
          <p:cNvSpPr txBox="1"/>
          <p:nvPr/>
        </p:nvSpPr>
        <p:spPr>
          <a:xfrm>
            <a:off x="5243404" y="8389431"/>
            <a:ext cx="7801192" cy="561081"/>
          </a:xfrm>
          <a:prstGeom prst="rect">
            <a:avLst/>
          </a:prstGeom>
        </p:spPr>
        <p:txBody>
          <a:bodyPr lIns="0" tIns="0" rIns="0" bIns="0" rtlCol="0" anchor="t">
            <a:spAutoFit/>
          </a:bodyPr>
          <a:lstStyle/>
          <a:p>
            <a:pPr algn="ctr">
              <a:lnSpc>
                <a:spcPts val="4570"/>
              </a:lnSpc>
            </a:pPr>
            <a:r>
              <a:rPr lang="en-US" sz="3264">
                <a:solidFill>
                  <a:srgbClr val="FFFFFF"/>
                </a:solidFill>
                <a:latin typeface="HK Grotesk"/>
                <a:ea typeface="HK Grotesk"/>
                <a:cs typeface="HK Grotesk"/>
                <a:sym typeface="HK Grotesk"/>
              </a:rPr>
              <a:t>Hell Fire team</a:t>
            </a:r>
          </a:p>
        </p:txBody>
      </p:sp>
      <p:sp>
        <p:nvSpPr>
          <p:cNvPr id="5" name="TextBox 5"/>
          <p:cNvSpPr txBox="1"/>
          <p:nvPr/>
        </p:nvSpPr>
        <p:spPr>
          <a:xfrm>
            <a:off x="1433856" y="3022571"/>
            <a:ext cx="15420288" cy="4308533"/>
          </a:xfrm>
          <a:prstGeom prst="rect">
            <a:avLst/>
          </a:prstGeom>
        </p:spPr>
        <p:txBody>
          <a:bodyPr lIns="0" tIns="0" rIns="0" bIns="0" rtlCol="0" anchor="t">
            <a:spAutoFit/>
          </a:bodyPr>
          <a:lstStyle/>
          <a:p>
            <a:pPr algn="ctr">
              <a:lnSpc>
                <a:spcPts val="11307"/>
              </a:lnSpc>
            </a:pPr>
            <a:r>
              <a:rPr lang="en-US" sz="10006" b="1" dirty="0">
                <a:solidFill>
                  <a:srgbClr val="FFFFFF"/>
                </a:solidFill>
                <a:latin typeface="Glacial Indifference Bold"/>
                <a:ea typeface="Glacial Indifference Bold"/>
                <a:cs typeface="Glacial Indifference Bold"/>
                <a:sym typeface="Glacial Indifference Bold"/>
              </a:rPr>
              <a:t>AI FINANCE AUTO-RESPONSE FOR RECEIPT REQUESTS</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flipH="1">
            <a:off x="0" y="0"/>
            <a:ext cx="18288000" cy="10287000"/>
          </a:xfrm>
          <a:custGeom>
            <a:avLst/>
            <a:gdLst/>
            <a:ahLst/>
            <a:cxnLst/>
            <a:rect l="l" t="t" r="r" b="b"/>
            <a:pathLst>
              <a:path w="18288000" h="10287000">
                <a:moveTo>
                  <a:pt x="18288000" y="0"/>
                </a:moveTo>
                <a:lnTo>
                  <a:pt x="0" y="0"/>
                </a:lnTo>
                <a:lnTo>
                  <a:pt x="0" y="10287000"/>
                </a:lnTo>
                <a:lnTo>
                  <a:pt x="18288000" y="10287000"/>
                </a:lnTo>
                <a:lnTo>
                  <a:pt x="18288000" y="0"/>
                </a:lnTo>
                <a:close/>
              </a:path>
            </a:pathLst>
          </a:custGeom>
          <a:blipFill>
            <a:blip r:embed="rId2"/>
            <a:stretch>
              <a:fillRect/>
            </a:stretch>
          </a:blipFill>
        </p:spPr>
      </p:sp>
      <p:sp>
        <p:nvSpPr>
          <p:cNvPr id="3" name="Freeform 3"/>
          <p:cNvSpPr/>
          <p:nvPr/>
        </p:nvSpPr>
        <p:spPr>
          <a:xfrm rot="5400000">
            <a:off x="2113643" y="-2113643"/>
            <a:ext cx="10287000" cy="14514286"/>
          </a:xfrm>
          <a:custGeom>
            <a:avLst/>
            <a:gdLst/>
            <a:ahLst/>
            <a:cxnLst/>
            <a:rect l="l" t="t" r="r" b="b"/>
            <a:pathLst>
              <a:path w="10287000" h="14514286">
                <a:moveTo>
                  <a:pt x="0" y="0"/>
                </a:moveTo>
                <a:lnTo>
                  <a:pt x="10287000" y="0"/>
                </a:lnTo>
                <a:lnTo>
                  <a:pt x="10287000" y="14514286"/>
                </a:lnTo>
                <a:lnTo>
                  <a:pt x="0" y="14514286"/>
                </a:lnTo>
                <a:lnTo>
                  <a:pt x="0" y="0"/>
                </a:lnTo>
                <a:close/>
              </a:path>
            </a:pathLst>
          </a:custGeom>
          <a:blipFill>
            <a:blip r:embed="rId3"/>
            <a:stretch>
              <a:fillRect/>
            </a:stretch>
          </a:blipFill>
        </p:spPr>
      </p:sp>
      <p:grpSp>
        <p:nvGrpSpPr>
          <p:cNvPr id="4" name="Group 4"/>
          <p:cNvGrpSpPr>
            <a:grpSpLocks noChangeAspect="1"/>
          </p:cNvGrpSpPr>
          <p:nvPr/>
        </p:nvGrpSpPr>
        <p:grpSpPr>
          <a:xfrm>
            <a:off x="9267916" y="1028700"/>
            <a:ext cx="8229600" cy="8229600"/>
            <a:chOff x="0" y="0"/>
            <a:chExt cx="14840029" cy="14840029"/>
          </a:xfrm>
        </p:grpSpPr>
        <p:sp>
          <p:nvSpPr>
            <p:cNvPr id="5" name="Freeform 5"/>
            <p:cNvSpPr/>
            <p:nvPr/>
          </p:nvSpPr>
          <p:spPr>
            <a:xfrm>
              <a:off x="-33258" y="-75"/>
              <a:ext cx="14906544" cy="14840178"/>
            </a:xfrm>
            <a:custGeom>
              <a:avLst/>
              <a:gdLst/>
              <a:ahLst/>
              <a:cxnLst/>
              <a:rect l="l" t="t" r="r" b="b"/>
              <a:pathLst>
                <a:path w="14906544" h="14840178">
                  <a:moveTo>
                    <a:pt x="7453273" y="75"/>
                  </a:moveTo>
                  <a:cubicBezTo>
                    <a:pt x="4794451" y="-11816"/>
                    <a:pt x="2332496" y="1399825"/>
                    <a:pt x="999642" y="3700470"/>
                  </a:cubicBezTo>
                  <a:cubicBezTo>
                    <a:pt x="-333213" y="6001115"/>
                    <a:pt x="-333213" y="8839064"/>
                    <a:pt x="999642" y="11139709"/>
                  </a:cubicBezTo>
                  <a:cubicBezTo>
                    <a:pt x="2332496" y="13440354"/>
                    <a:pt x="4794451" y="14851995"/>
                    <a:pt x="7453273" y="14840104"/>
                  </a:cubicBezTo>
                  <a:cubicBezTo>
                    <a:pt x="10112093" y="14851995"/>
                    <a:pt x="12574049" y="13440354"/>
                    <a:pt x="13906904" y="11139709"/>
                  </a:cubicBezTo>
                  <a:cubicBezTo>
                    <a:pt x="15239758" y="8839064"/>
                    <a:pt x="15239758" y="6001115"/>
                    <a:pt x="13906904" y="3700470"/>
                  </a:cubicBezTo>
                  <a:cubicBezTo>
                    <a:pt x="12574049" y="1399825"/>
                    <a:pt x="10112093" y="-11816"/>
                    <a:pt x="7453273" y="75"/>
                  </a:cubicBezTo>
                  <a:close/>
                </a:path>
              </a:pathLst>
            </a:custGeom>
            <a:solidFill>
              <a:srgbClr val="769EBE"/>
            </a:solidFill>
          </p:spPr>
        </p:sp>
        <p:sp>
          <p:nvSpPr>
            <p:cNvPr id="6" name="Freeform 6"/>
            <p:cNvSpPr/>
            <p:nvPr/>
          </p:nvSpPr>
          <p:spPr>
            <a:xfrm>
              <a:off x="168022" y="200309"/>
              <a:ext cx="14503985" cy="14439411"/>
            </a:xfrm>
            <a:custGeom>
              <a:avLst/>
              <a:gdLst/>
              <a:ahLst/>
              <a:cxnLst/>
              <a:rect l="l" t="t" r="r" b="b"/>
              <a:pathLst>
                <a:path w="14503985" h="14439411">
                  <a:moveTo>
                    <a:pt x="7251993" y="73"/>
                  </a:moveTo>
                  <a:cubicBezTo>
                    <a:pt x="4664974" y="-11497"/>
                    <a:pt x="2269506" y="1362022"/>
                    <a:pt x="972645" y="3600537"/>
                  </a:cubicBezTo>
                  <a:cubicBezTo>
                    <a:pt x="-324215" y="5839051"/>
                    <a:pt x="-324215" y="8600360"/>
                    <a:pt x="972645" y="10838875"/>
                  </a:cubicBezTo>
                  <a:cubicBezTo>
                    <a:pt x="2269506" y="13077389"/>
                    <a:pt x="4664974" y="14450908"/>
                    <a:pt x="7251993" y="14439338"/>
                  </a:cubicBezTo>
                  <a:cubicBezTo>
                    <a:pt x="9839011" y="14450908"/>
                    <a:pt x="12234479" y="13077389"/>
                    <a:pt x="13531340" y="10838875"/>
                  </a:cubicBezTo>
                  <a:cubicBezTo>
                    <a:pt x="14828201" y="8600360"/>
                    <a:pt x="14828201" y="5839051"/>
                    <a:pt x="13531340" y="3600537"/>
                  </a:cubicBezTo>
                  <a:cubicBezTo>
                    <a:pt x="12234479" y="1362022"/>
                    <a:pt x="9839011" y="-11497"/>
                    <a:pt x="7251993" y="73"/>
                  </a:cubicBezTo>
                  <a:close/>
                </a:path>
              </a:pathLst>
            </a:custGeom>
            <a:solidFill>
              <a:srgbClr val="3A5677"/>
            </a:solidFill>
          </p:spPr>
        </p:sp>
        <p:sp>
          <p:nvSpPr>
            <p:cNvPr id="7" name="Freeform 7"/>
            <p:cNvSpPr/>
            <p:nvPr/>
          </p:nvSpPr>
          <p:spPr>
            <a:xfrm>
              <a:off x="531276" y="561946"/>
              <a:ext cx="13777477" cy="13716137"/>
            </a:xfrm>
            <a:custGeom>
              <a:avLst/>
              <a:gdLst/>
              <a:ahLst/>
              <a:cxnLst/>
              <a:rect l="l" t="t" r="r" b="b"/>
              <a:pathLst>
                <a:path w="13777477" h="13716137">
                  <a:moveTo>
                    <a:pt x="6888739" y="68"/>
                  </a:moveTo>
                  <a:cubicBezTo>
                    <a:pt x="4431305" y="-10922"/>
                    <a:pt x="2155826" y="1293797"/>
                    <a:pt x="923925" y="3420184"/>
                  </a:cubicBezTo>
                  <a:cubicBezTo>
                    <a:pt x="-307975" y="5546571"/>
                    <a:pt x="-307975" y="8169565"/>
                    <a:pt x="923925" y="10295952"/>
                  </a:cubicBezTo>
                  <a:cubicBezTo>
                    <a:pt x="2155826" y="12422339"/>
                    <a:pt x="4431305" y="13727058"/>
                    <a:pt x="6888739" y="13716068"/>
                  </a:cubicBezTo>
                  <a:cubicBezTo>
                    <a:pt x="9346172" y="13727058"/>
                    <a:pt x="11621651" y="12422339"/>
                    <a:pt x="12853552" y="10295952"/>
                  </a:cubicBezTo>
                  <a:cubicBezTo>
                    <a:pt x="14085452" y="8169565"/>
                    <a:pt x="14085452" y="5546571"/>
                    <a:pt x="12853552" y="3420184"/>
                  </a:cubicBezTo>
                  <a:cubicBezTo>
                    <a:pt x="11621651" y="1293797"/>
                    <a:pt x="9346172" y="-10922"/>
                    <a:pt x="6888739" y="68"/>
                  </a:cubicBezTo>
                  <a:close/>
                </a:path>
              </a:pathLst>
            </a:custGeom>
            <a:blipFill>
              <a:blip r:embed="rId4"/>
              <a:stretch>
                <a:fillRect l="-24712" r="-24712"/>
              </a:stretch>
            </a:blipFill>
          </p:spPr>
        </p:sp>
      </p:grpSp>
      <p:sp>
        <p:nvSpPr>
          <p:cNvPr id="8" name="TextBox 8"/>
          <p:cNvSpPr txBox="1"/>
          <p:nvPr/>
        </p:nvSpPr>
        <p:spPr>
          <a:xfrm>
            <a:off x="565535" y="2861646"/>
            <a:ext cx="9189230" cy="1044320"/>
          </a:xfrm>
          <a:prstGeom prst="rect">
            <a:avLst/>
          </a:prstGeom>
        </p:spPr>
        <p:txBody>
          <a:bodyPr lIns="0" tIns="0" rIns="0" bIns="0" rtlCol="0" anchor="t">
            <a:spAutoFit/>
          </a:bodyPr>
          <a:lstStyle/>
          <a:p>
            <a:pPr algn="l">
              <a:lnSpc>
                <a:spcPts val="8039"/>
              </a:lnSpc>
            </a:pPr>
            <a:r>
              <a:rPr lang="en-US" sz="7114" b="1">
                <a:solidFill>
                  <a:srgbClr val="FFFFFF"/>
                </a:solidFill>
                <a:latin typeface="Glacial Indifference Bold"/>
                <a:ea typeface="Glacial Indifference Bold"/>
                <a:cs typeface="Glacial Indifference Bold"/>
                <a:sym typeface="Glacial Indifference Bold"/>
              </a:rPr>
              <a:t>ABOUT OUR PROJECT</a:t>
            </a:r>
          </a:p>
        </p:txBody>
      </p:sp>
      <p:sp>
        <p:nvSpPr>
          <p:cNvPr id="9" name="TextBox 9"/>
          <p:cNvSpPr txBox="1"/>
          <p:nvPr/>
        </p:nvSpPr>
        <p:spPr>
          <a:xfrm>
            <a:off x="565535" y="4066699"/>
            <a:ext cx="7899970" cy="2086927"/>
          </a:xfrm>
          <a:prstGeom prst="rect">
            <a:avLst/>
          </a:prstGeom>
        </p:spPr>
        <p:txBody>
          <a:bodyPr lIns="0" tIns="0" rIns="0" bIns="0" rtlCol="0" anchor="t">
            <a:spAutoFit/>
          </a:bodyPr>
          <a:lstStyle/>
          <a:p>
            <a:pPr algn="l">
              <a:lnSpc>
                <a:spcPts val="4147"/>
              </a:lnSpc>
            </a:pPr>
            <a:r>
              <a:rPr lang="en-US" sz="2962">
                <a:solidFill>
                  <a:srgbClr val="FFFFFF"/>
                </a:solidFill>
                <a:latin typeface="HK Grotesk"/>
                <a:ea typeface="HK Grotesk"/>
                <a:cs typeface="HK Grotesk"/>
                <a:sym typeface="HK Grotesk"/>
              </a:rPr>
              <a:t>Our project is an AI-based finance system that automatically responds to student receipt requests, removing repetitive manual work from finance offices.</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2"/>
            <a:stretch>
              <a:fillRect/>
            </a:stretch>
          </a:blipFill>
        </p:spPr>
      </p:sp>
      <p:sp>
        <p:nvSpPr>
          <p:cNvPr id="3" name="Freeform 3"/>
          <p:cNvSpPr/>
          <p:nvPr/>
        </p:nvSpPr>
        <p:spPr>
          <a:xfrm rot="5400000" flipV="1">
            <a:off x="5887357" y="-2113643"/>
            <a:ext cx="10287000" cy="14514286"/>
          </a:xfrm>
          <a:custGeom>
            <a:avLst/>
            <a:gdLst/>
            <a:ahLst/>
            <a:cxnLst/>
            <a:rect l="l" t="t" r="r" b="b"/>
            <a:pathLst>
              <a:path w="10287000" h="14514286">
                <a:moveTo>
                  <a:pt x="0" y="14514286"/>
                </a:moveTo>
                <a:lnTo>
                  <a:pt x="10287000" y="14514286"/>
                </a:lnTo>
                <a:lnTo>
                  <a:pt x="10287000" y="0"/>
                </a:lnTo>
                <a:lnTo>
                  <a:pt x="0" y="0"/>
                </a:lnTo>
                <a:lnTo>
                  <a:pt x="0" y="14514286"/>
                </a:lnTo>
                <a:close/>
              </a:path>
            </a:pathLst>
          </a:custGeom>
          <a:blipFill>
            <a:blip r:embed="rId3"/>
            <a:stretch>
              <a:fillRect/>
            </a:stretch>
          </a:blipFill>
        </p:spPr>
      </p:sp>
      <p:sp>
        <p:nvSpPr>
          <p:cNvPr id="4" name="Freeform 4"/>
          <p:cNvSpPr/>
          <p:nvPr/>
        </p:nvSpPr>
        <p:spPr>
          <a:xfrm flipH="1">
            <a:off x="2500831" y="1028700"/>
            <a:ext cx="4956202" cy="8229600"/>
          </a:xfrm>
          <a:custGeom>
            <a:avLst/>
            <a:gdLst/>
            <a:ahLst/>
            <a:cxnLst/>
            <a:rect l="l" t="t" r="r" b="b"/>
            <a:pathLst>
              <a:path w="4956202" h="8229600">
                <a:moveTo>
                  <a:pt x="4956202" y="0"/>
                </a:moveTo>
                <a:lnTo>
                  <a:pt x="0" y="0"/>
                </a:lnTo>
                <a:lnTo>
                  <a:pt x="0" y="8229600"/>
                </a:lnTo>
                <a:lnTo>
                  <a:pt x="4956202" y="8229600"/>
                </a:lnTo>
                <a:lnTo>
                  <a:pt x="4956202" y="0"/>
                </a:lnTo>
                <a:close/>
              </a:path>
            </a:pathLst>
          </a:custGeom>
          <a:blipFill>
            <a:blip r:embed="rId4"/>
            <a:stretch>
              <a:fillRect/>
            </a:stretch>
          </a:blipFill>
        </p:spPr>
      </p:sp>
      <p:sp>
        <p:nvSpPr>
          <p:cNvPr id="5" name="TextBox 5"/>
          <p:cNvSpPr txBox="1"/>
          <p:nvPr/>
        </p:nvSpPr>
        <p:spPr>
          <a:xfrm>
            <a:off x="9144000" y="2917220"/>
            <a:ext cx="8115300" cy="3082670"/>
          </a:xfrm>
          <a:prstGeom prst="rect">
            <a:avLst/>
          </a:prstGeom>
        </p:spPr>
        <p:txBody>
          <a:bodyPr lIns="0" tIns="0" rIns="0" bIns="0" rtlCol="0" anchor="t">
            <a:spAutoFit/>
          </a:bodyPr>
          <a:lstStyle/>
          <a:p>
            <a:pPr algn="just">
              <a:lnSpc>
                <a:spcPts val="8039"/>
              </a:lnSpc>
            </a:pPr>
            <a:r>
              <a:rPr lang="en-US" sz="7114" b="1">
                <a:solidFill>
                  <a:srgbClr val="FFFFFF"/>
                </a:solidFill>
                <a:latin typeface="Glacial Indifference Bold"/>
                <a:ea typeface="Glacial Indifference Bold"/>
                <a:cs typeface="Glacial Indifference Bold"/>
                <a:sym typeface="Glacial Indifference Bold"/>
              </a:rPr>
              <a:t>THE PROBLEM</a:t>
            </a:r>
          </a:p>
          <a:p>
            <a:pPr algn="just">
              <a:lnSpc>
                <a:spcPts val="8039"/>
              </a:lnSpc>
            </a:pPr>
            <a:endParaRPr lang="en-US" sz="7114" b="1">
              <a:solidFill>
                <a:srgbClr val="FFFFFF"/>
              </a:solidFill>
              <a:latin typeface="Glacial Indifference Bold"/>
              <a:ea typeface="Glacial Indifference Bold"/>
              <a:cs typeface="Glacial Indifference Bold"/>
              <a:sym typeface="Glacial Indifference Bold"/>
            </a:endParaRPr>
          </a:p>
          <a:p>
            <a:pPr algn="just">
              <a:lnSpc>
                <a:spcPts val="8039"/>
              </a:lnSpc>
            </a:pPr>
            <a:endParaRPr lang="en-US" sz="7114" b="1">
              <a:solidFill>
                <a:srgbClr val="FFFFFF"/>
              </a:solidFill>
              <a:latin typeface="Glacial Indifference Bold"/>
              <a:ea typeface="Glacial Indifference Bold"/>
              <a:cs typeface="Glacial Indifference Bold"/>
              <a:sym typeface="Glacial Indifference Bold"/>
            </a:endParaRPr>
          </a:p>
        </p:txBody>
      </p:sp>
      <p:sp>
        <p:nvSpPr>
          <p:cNvPr id="6" name="TextBox 6"/>
          <p:cNvSpPr txBox="1"/>
          <p:nvPr/>
        </p:nvSpPr>
        <p:spPr>
          <a:xfrm>
            <a:off x="9144000" y="4334730"/>
            <a:ext cx="7821771" cy="5324475"/>
          </a:xfrm>
          <a:prstGeom prst="rect">
            <a:avLst/>
          </a:prstGeom>
        </p:spPr>
        <p:txBody>
          <a:bodyPr lIns="0" tIns="0" rIns="0" bIns="0" rtlCol="0" anchor="t">
            <a:spAutoFit/>
          </a:bodyPr>
          <a:lstStyle/>
          <a:p>
            <a:pPr algn="just">
              <a:lnSpc>
                <a:spcPts val="4200"/>
              </a:lnSpc>
            </a:pPr>
            <a:r>
              <a:rPr lang="en-US" sz="3000">
                <a:solidFill>
                  <a:srgbClr val="FFFFFF"/>
                </a:solidFill>
                <a:latin typeface="HK Grotesk"/>
                <a:ea typeface="HK Grotesk"/>
                <a:cs typeface="HK Grotesk"/>
                <a:sym typeface="HK Grotesk"/>
              </a:rPr>
              <a:t>We chose this problem based on our own university experience. After every online payment, students must email the finance team to request a receipt and often wait a long time for a response. Realizing that thousands of similar requests are sent every day, we saw how much time this process wastes for both students and finance staff. This motivated us to design an automated solution to streamline receipt requests and responses.</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flipH="1">
            <a:off x="0" y="0"/>
            <a:ext cx="18288000" cy="10287000"/>
          </a:xfrm>
          <a:custGeom>
            <a:avLst/>
            <a:gdLst/>
            <a:ahLst/>
            <a:cxnLst/>
            <a:rect l="l" t="t" r="r" b="b"/>
            <a:pathLst>
              <a:path w="18288000" h="10287000">
                <a:moveTo>
                  <a:pt x="18288000" y="0"/>
                </a:moveTo>
                <a:lnTo>
                  <a:pt x="0" y="0"/>
                </a:lnTo>
                <a:lnTo>
                  <a:pt x="0" y="10287000"/>
                </a:lnTo>
                <a:lnTo>
                  <a:pt x="18288000" y="10287000"/>
                </a:lnTo>
                <a:lnTo>
                  <a:pt x="18288000" y="0"/>
                </a:lnTo>
                <a:close/>
              </a:path>
            </a:pathLst>
          </a:custGeom>
          <a:blipFill>
            <a:blip r:embed="rId2"/>
            <a:stretch>
              <a:fillRect/>
            </a:stretch>
          </a:blipFill>
        </p:spPr>
      </p:sp>
      <p:sp>
        <p:nvSpPr>
          <p:cNvPr id="3" name="Freeform 3"/>
          <p:cNvSpPr/>
          <p:nvPr/>
        </p:nvSpPr>
        <p:spPr>
          <a:xfrm rot="5400000">
            <a:off x="2113643" y="-2113643"/>
            <a:ext cx="10287000" cy="14514286"/>
          </a:xfrm>
          <a:custGeom>
            <a:avLst/>
            <a:gdLst/>
            <a:ahLst/>
            <a:cxnLst/>
            <a:rect l="l" t="t" r="r" b="b"/>
            <a:pathLst>
              <a:path w="10287000" h="14514286">
                <a:moveTo>
                  <a:pt x="0" y="0"/>
                </a:moveTo>
                <a:lnTo>
                  <a:pt x="10287000" y="0"/>
                </a:lnTo>
                <a:lnTo>
                  <a:pt x="10287000" y="14514286"/>
                </a:lnTo>
                <a:lnTo>
                  <a:pt x="0" y="14514286"/>
                </a:lnTo>
                <a:lnTo>
                  <a:pt x="0" y="0"/>
                </a:lnTo>
                <a:close/>
              </a:path>
            </a:pathLst>
          </a:custGeom>
          <a:blipFill>
            <a:blip r:embed="rId3"/>
            <a:stretch>
              <a:fillRect/>
            </a:stretch>
          </a:blipFill>
        </p:spPr>
      </p:sp>
      <p:sp>
        <p:nvSpPr>
          <p:cNvPr id="4" name="Freeform 4"/>
          <p:cNvSpPr/>
          <p:nvPr/>
        </p:nvSpPr>
        <p:spPr>
          <a:xfrm>
            <a:off x="9144000" y="1148690"/>
            <a:ext cx="8115300" cy="7989621"/>
          </a:xfrm>
          <a:custGeom>
            <a:avLst/>
            <a:gdLst/>
            <a:ahLst/>
            <a:cxnLst/>
            <a:rect l="l" t="t" r="r" b="b"/>
            <a:pathLst>
              <a:path w="8115300" h="7989621">
                <a:moveTo>
                  <a:pt x="0" y="0"/>
                </a:moveTo>
                <a:lnTo>
                  <a:pt x="8115300" y="0"/>
                </a:lnTo>
                <a:lnTo>
                  <a:pt x="8115300" y="7989620"/>
                </a:lnTo>
                <a:lnTo>
                  <a:pt x="0" y="7989620"/>
                </a:lnTo>
                <a:lnTo>
                  <a:pt x="0" y="0"/>
                </a:lnTo>
                <a:close/>
              </a:path>
            </a:pathLst>
          </a:custGeom>
          <a:blipFill>
            <a:blip r:embed="rId4"/>
            <a:stretch>
              <a:fillRect/>
            </a:stretch>
          </a:blipFill>
        </p:spPr>
      </p:sp>
      <p:sp>
        <p:nvSpPr>
          <p:cNvPr id="5" name="TextBox 5"/>
          <p:cNvSpPr txBox="1"/>
          <p:nvPr/>
        </p:nvSpPr>
        <p:spPr>
          <a:xfrm>
            <a:off x="1057125" y="2320674"/>
            <a:ext cx="6629635" cy="1044320"/>
          </a:xfrm>
          <a:prstGeom prst="rect">
            <a:avLst/>
          </a:prstGeom>
        </p:spPr>
        <p:txBody>
          <a:bodyPr lIns="0" tIns="0" rIns="0" bIns="0" rtlCol="0" anchor="t">
            <a:spAutoFit/>
          </a:bodyPr>
          <a:lstStyle/>
          <a:p>
            <a:pPr algn="l">
              <a:lnSpc>
                <a:spcPts val="8039"/>
              </a:lnSpc>
            </a:pPr>
            <a:r>
              <a:rPr lang="en-US" sz="7114" b="1">
                <a:solidFill>
                  <a:srgbClr val="FFFFFF"/>
                </a:solidFill>
                <a:latin typeface="Glacial Indifference Bold"/>
                <a:ea typeface="Glacial Indifference Bold"/>
                <a:cs typeface="Glacial Indifference Bold"/>
                <a:sym typeface="Glacial Indifference Bold"/>
              </a:rPr>
              <a:t>OUR SOLUTION</a:t>
            </a:r>
          </a:p>
        </p:txBody>
      </p:sp>
      <p:sp>
        <p:nvSpPr>
          <p:cNvPr id="6" name="TextBox 6"/>
          <p:cNvSpPr txBox="1"/>
          <p:nvPr/>
        </p:nvSpPr>
        <p:spPr>
          <a:xfrm>
            <a:off x="1057125" y="3699822"/>
            <a:ext cx="7402185" cy="4939030"/>
          </a:xfrm>
          <a:prstGeom prst="rect">
            <a:avLst/>
          </a:prstGeom>
        </p:spPr>
        <p:txBody>
          <a:bodyPr lIns="0" tIns="0" rIns="0" bIns="0" rtlCol="0" anchor="t">
            <a:spAutoFit/>
          </a:bodyPr>
          <a:lstStyle/>
          <a:p>
            <a:pPr marL="604519" lvl="1" indent="-302260" algn="l">
              <a:lnSpc>
                <a:spcPts val="3919"/>
              </a:lnSpc>
              <a:buFont typeface="Arial"/>
              <a:buChar char="•"/>
            </a:pPr>
            <a:r>
              <a:rPr lang="en-US" sz="2799">
                <a:solidFill>
                  <a:srgbClr val="FFFFFF"/>
                </a:solidFill>
                <a:latin typeface="HK Grotesk"/>
                <a:ea typeface="HK Grotesk"/>
                <a:cs typeface="HK Grotesk"/>
                <a:sym typeface="HK Grotesk"/>
              </a:rPr>
              <a:t>Our AI solution automatically handles student receipt requests by reading incoming messages, identifying receipt-related requests, and extracting the student ID. It then matches the request with payment records and sends a clear, professional response. This automation ensures fast and accurate receipt confirmations while reducing manual work for finance staff.</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2"/>
            <a:stretch>
              <a:fillRect/>
            </a:stretch>
          </a:blipFill>
        </p:spPr>
      </p:sp>
      <p:sp>
        <p:nvSpPr>
          <p:cNvPr id="3" name="Freeform 3"/>
          <p:cNvSpPr/>
          <p:nvPr/>
        </p:nvSpPr>
        <p:spPr>
          <a:xfrm rot="5400000" flipV="1">
            <a:off x="5887357" y="-2113643"/>
            <a:ext cx="10287000" cy="14514286"/>
          </a:xfrm>
          <a:custGeom>
            <a:avLst/>
            <a:gdLst/>
            <a:ahLst/>
            <a:cxnLst/>
            <a:rect l="l" t="t" r="r" b="b"/>
            <a:pathLst>
              <a:path w="10287000" h="14514286">
                <a:moveTo>
                  <a:pt x="0" y="14514286"/>
                </a:moveTo>
                <a:lnTo>
                  <a:pt x="10287000" y="14514286"/>
                </a:lnTo>
                <a:lnTo>
                  <a:pt x="10287000" y="0"/>
                </a:lnTo>
                <a:lnTo>
                  <a:pt x="0" y="0"/>
                </a:lnTo>
                <a:lnTo>
                  <a:pt x="0" y="14514286"/>
                </a:lnTo>
                <a:close/>
              </a:path>
            </a:pathLst>
          </a:custGeom>
          <a:blipFill>
            <a:blip r:embed="rId3"/>
            <a:stretch>
              <a:fillRect/>
            </a:stretch>
          </a:blipFill>
        </p:spPr>
      </p:sp>
      <p:sp>
        <p:nvSpPr>
          <p:cNvPr id="4" name="TextBox 4"/>
          <p:cNvSpPr txBox="1"/>
          <p:nvPr/>
        </p:nvSpPr>
        <p:spPr>
          <a:xfrm>
            <a:off x="793858" y="1524000"/>
            <a:ext cx="12126320" cy="1044320"/>
          </a:xfrm>
          <a:prstGeom prst="rect">
            <a:avLst/>
          </a:prstGeom>
        </p:spPr>
        <p:txBody>
          <a:bodyPr lIns="0" tIns="0" rIns="0" bIns="0" rtlCol="0" anchor="t">
            <a:spAutoFit/>
          </a:bodyPr>
          <a:lstStyle/>
          <a:p>
            <a:pPr algn="just">
              <a:lnSpc>
                <a:spcPts val="8039"/>
              </a:lnSpc>
            </a:pPr>
            <a:r>
              <a:rPr lang="en-US" sz="7114" b="1">
                <a:solidFill>
                  <a:srgbClr val="FFFFFF"/>
                </a:solidFill>
                <a:latin typeface="Glacial Indifference Bold"/>
                <a:ea typeface="Glacial Indifference Bold"/>
                <a:cs typeface="Glacial Indifference Bold"/>
                <a:sym typeface="Glacial Indifference Bold"/>
              </a:rPr>
              <a:t>FINANCE AND MARKET</a:t>
            </a:r>
          </a:p>
        </p:txBody>
      </p:sp>
      <p:sp>
        <p:nvSpPr>
          <p:cNvPr id="5" name="TextBox 5"/>
          <p:cNvSpPr txBox="1"/>
          <p:nvPr/>
        </p:nvSpPr>
        <p:spPr>
          <a:xfrm>
            <a:off x="793858" y="2501645"/>
            <a:ext cx="16932035" cy="6924675"/>
          </a:xfrm>
          <a:prstGeom prst="rect">
            <a:avLst/>
          </a:prstGeom>
        </p:spPr>
        <p:txBody>
          <a:bodyPr lIns="0" tIns="0" rIns="0" bIns="0" rtlCol="0" anchor="t">
            <a:spAutoFit/>
          </a:bodyPr>
          <a:lstStyle/>
          <a:p>
            <a:pPr algn="just">
              <a:lnSpc>
                <a:spcPts val="4200"/>
              </a:lnSpc>
            </a:pPr>
            <a:r>
              <a:rPr lang="en-US" sz="3000" b="1">
                <a:solidFill>
                  <a:srgbClr val="FFFFFF"/>
                </a:solidFill>
                <a:latin typeface="HK Grotesk Bold"/>
                <a:ea typeface="HK Grotesk Bold"/>
                <a:cs typeface="HK Grotesk Bold"/>
                <a:sym typeface="HK Grotesk Bold"/>
              </a:rPr>
              <a:t>Market Opportunity</a:t>
            </a:r>
          </a:p>
          <a:p>
            <a:pPr algn="just">
              <a:lnSpc>
                <a:spcPts val="4200"/>
              </a:lnSpc>
            </a:pPr>
            <a:r>
              <a:rPr lang="en-US" sz="3000">
                <a:solidFill>
                  <a:srgbClr val="FFFFFF"/>
                </a:solidFill>
                <a:latin typeface="HK Grotesk"/>
                <a:ea typeface="HK Grotesk"/>
                <a:cs typeface="HK Grotesk"/>
                <a:sym typeface="HK Grotesk"/>
              </a:rPr>
              <a:t>With 235M+ students and 26,000+ universities worldwide, every institution processes receipt confirmations. The global higher-education market is worth $2.7T, making automation highly scalable.</a:t>
            </a:r>
          </a:p>
          <a:p>
            <a:pPr algn="just">
              <a:lnSpc>
                <a:spcPts val="4200"/>
              </a:lnSpc>
            </a:pPr>
            <a:r>
              <a:rPr lang="en-US" sz="3000" b="1">
                <a:solidFill>
                  <a:srgbClr val="FFFFFF"/>
                </a:solidFill>
                <a:latin typeface="HK Grotesk Bold"/>
                <a:ea typeface="HK Grotesk Bold"/>
                <a:cs typeface="HK Grotesk Bold"/>
                <a:sym typeface="HK Grotesk Bold"/>
              </a:rPr>
              <a:t>Time &amp; Cost Savings</a:t>
            </a:r>
          </a:p>
          <a:p>
            <a:pPr algn="just">
              <a:lnSpc>
                <a:spcPts val="4200"/>
              </a:lnSpc>
            </a:pPr>
            <a:r>
              <a:rPr lang="en-US" sz="3000">
                <a:solidFill>
                  <a:srgbClr val="FFFFFF"/>
                </a:solidFill>
                <a:latin typeface="HK Grotesk"/>
                <a:ea typeface="HK Grotesk"/>
                <a:cs typeface="HK Grotesk"/>
                <a:sym typeface="HK Grotesk"/>
              </a:rPr>
              <a:t>A manual receipt reply takes ~5 minutes. For 5,000 requests, this saves 417 staff hours (~$12,500). At 20,000 requests/year, universities save ~1,670 hours or ~$50,000 annually.</a:t>
            </a:r>
          </a:p>
          <a:p>
            <a:pPr algn="just">
              <a:lnSpc>
                <a:spcPts val="4200"/>
              </a:lnSpc>
            </a:pPr>
            <a:r>
              <a:rPr lang="en-US" sz="3000">
                <a:solidFill>
                  <a:srgbClr val="FFFFFF"/>
                </a:solidFill>
                <a:latin typeface="HK Grotesk"/>
                <a:ea typeface="HK Grotesk"/>
                <a:cs typeface="HK Grotesk"/>
                <a:sym typeface="HK Grotesk"/>
              </a:rPr>
              <a:t>I</a:t>
            </a:r>
            <a:r>
              <a:rPr lang="en-US" sz="3000" b="1">
                <a:solidFill>
                  <a:srgbClr val="FFFFFF"/>
                </a:solidFill>
                <a:latin typeface="HK Grotesk Bold"/>
                <a:ea typeface="HK Grotesk Bold"/>
                <a:cs typeface="HK Grotesk Bold"/>
                <a:sym typeface="HK Grotesk Bold"/>
              </a:rPr>
              <a:t>nfrastructure Advantage</a:t>
            </a:r>
          </a:p>
          <a:p>
            <a:pPr algn="just">
              <a:lnSpc>
                <a:spcPts val="4200"/>
              </a:lnSpc>
            </a:pPr>
            <a:r>
              <a:rPr lang="en-US" sz="3000">
                <a:solidFill>
                  <a:srgbClr val="FFFFFF"/>
                </a:solidFill>
                <a:latin typeface="HK Grotesk"/>
                <a:ea typeface="HK Grotesk"/>
                <a:cs typeface="HK Grotesk"/>
                <a:sym typeface="HK Grotesk"/>
              </a:rPr>
              <a:t>Traditional systems cost $24,000+/year. A serverless AWS setup costs just $36–$360/year, delivering up to 99% cost reduction.</a:t>
            </a:r>
          </a:p>
          <a:p>
            <a:pPr algn="just">
              <a:lnSpc>
                <a:spcPts val="4200"/>
              </a:lnSpc>
            </a:pPr>
            <a:r>
              <a:rPr lang="en-US" sz="3000" b="1">
                <a:solidFill>
                  <a:srgbClr val="FFFFFF"/>
                </a:solidFill>
                <a:latin typeface="HK Grotesk Bold"/>
                <a:ea typeface="HK Grotesk Bold"/>
                <a:cs typeface="HK Grotesk Bold"/>
                <a:sym typeface="HK Grotesk Bold"/>
              </a:rPr>
              <a:t>ROI per University</a:t>
            </a:r>
          </a:p>
          <a:p>
            <a:pPr algn="just">
              <a:lnSpc>
                <a:spcPts val="4200"/>
              </a:lnSpc>
            </a:pPr>
            <a:r>
              <a:rPr lang="en-US" sz="3000">
                <a:solidFill>
                  <a:srgbClr val="FFFFFF"/>
                </a:solidFill>
                <a:latin typeface="HK Grotesk"/>
                <a:ea typeface="HK Grotesk"/>
                <a:cs typeface="HK Grotesk"/>
                <a:sym typeface="HK Grotesk"/>
              </a:rPr>
              <a:t>With total annual costs of about $4,000, universities gain over $45,000 in net value per year through staff time and infrastructure savings.</a:t>
            </a:r>
          </a:p>
          <a:p>
            <a:pPr algn="just">
              <a:lnSpc>
                <a:spcPts val="4200"/>
              </a:lnSpc>
            </a:pPr>
            <a:endParaRPr lang="en-US" sz="3000">
              <a:solidFill>
                <a:srgbClr val="FFFFFF"/>
              </a:solidFill>
              <a:latin typeface="HK Grotesk"/>
              <a:ea typeface="HK Grotesk"/>
              <a:cs typeface="HK Grotesk"/>
              <a:sym typeface="HK Grotesk"/>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flipH="1">
            <a:off x="0" y="0"/>
            <a:ext cx="18288000" cy="10287000"/>
          </a:xfrm>
          <a:custGeom>
            <a:avLst/>
            <a:gdLst/>
            <a:ahLst/>
            <a:cxnLst/>
            <a:rect l="l" t="t" r="r" b="b"/>
            <a:pathLst>
              <a:path w="18288000" h="10287000">
                <a:moveTo>
                  <a:pt x="18288000" y="0"/>
                </a:moveTo>
                <a:lnTo>
                  <a:pt x="0" y="0"/>
                </a:lnTo>
                <a:lnTo>
                  <a:pt x="0" y="10287000"/>
                </a:lnTo>
                <a:lnTo>
                  <a:pt x="18288000" y="10287000"/>
                </a:lnTo>
                <a:lnTo>
                  <a:pt x="18288000" y="0"/>
                </a:lnTo>
                <a:close/>
              </a:path>
            </a:pathLst>
          </a:custGeom>
          <a:blipFill>
            <a:blip r:embed="rId2"/>
            <a:stretch>
              <a:fillRect/>
            </a:stretch>
          </a:blipFill>
        </p:spPr>
      </p:sp>
      <p:sp>
        <p:nvSpPr>
          <p:cNvPr id="3" name="Freeform 3"/>
          <p:cNvSpPr/>
          <p:nvPr/>
        </p:nvSpPr>
        <p:spPr>
          <a:xfrm>
            <a:off x="0" y="-450964"/>
            <a:ext cx="18440399" cy="10737964"/>
          </a:xfrm>
          <a:custGeom>
            <a:avLst/>
            <a:gdLst/>
            <a:ahLst/>
            <a:cxnLst/>
            <a:rect l="l" t="t" r="r" b="b"/>
            <a:pathLst>
              <a:path w="17024727" h="10737964">
                <a:moveTo>
                  <a:pt x="0" y="0"/>
                </a:moveTo>
                <a:lnTo>
                  <a:pt x="17024726" y="0"/>
                </a:lnTo>
                <a:lnTo>
                  <a:pt x="17024726" y="10737964"/>
                </a:lnTo>
                <a:lnTo>
                  <a:pt x="0" y="10737964"/>
                </a:lnTo>
                <a:lnTo>
                  <a:pt x="0" y="0"/>
                </a:lnTo>
                <a:close/>
              </a:path>
            </a:pathLst>
          </a:custGeom>
          <a:blipFill>
            <a:blip r:embed="rId3"/>
            <a:stretch>
              <a:fillRect t="-123699"/>
            </a:stretch>
          </a:blipFill>
        </p:spPr>
      </p:sp>
      <p:sp>
        <p:nvSpPr>
          <p:cNvPr id="4" name="Freeform 4"/>
          <p:cNvSpPr/>
          <p:nvPr/>
        </p:nvSpPr>
        <p:spPr>
          <a:xfrm>
            <a:off x="0" y="2559193"/>
            <a:ext cx="6334990" cy="6324872"/>
          </a:xfrm>
          <a:custGeom>
            <a:avLst/>
            <a:gdLst/>
            <a:ahLst/>
            <a:cxnLst/>
            <a:rect l="l" t="t" r="r" b="b"/>
            <a:pathLst>
              <a:path w="6334990" h="6324872">
                <a:moveTo>
                  <a:pt x="0" y="0"/>
                </a:moveTo>
                <a:lnTo>
                  <a:pt x="6334990" y="0"/>
                </a:lnTo>
                <a:lnTo>
                  <a:pt x="6334990" y="6324871"/>
                </a:lnTo>
                <a:lnTo>
                  <a:pt x="0" y="6324871"/>
                </a:lnTo>
                <a:lnTo>
                  <a:pt x="0" y="0"/>
                </a:lnTo>
                <a:close/>
              </a:path>
            </a:pathLst>
          </a:custGeom>
          <a:blipFill>
            <a:blip r:embed="rId4"/>
            <a:stretch>
              <a:fillRect r="-2138"/>
            </a:stretch>
          </a:blipFill>
        </p:spPr>
      </p:sp>
      <p:sp>
        <p:nvSpPr>
          <p:cNvPr id="5" name="Freeform 5"/>
          <p:cNvSpPr/>
          <p:nvPr/>
        </p:nvSpPr>
        <p:spPr>
          <a:xfrm>
            <a:off x="12401940" y="2559193"/>
            <a:ext cx="5886060" cy="6356958"/>
          </a:xfrm>
          <a:custGeom>
            <a:avLst/>
            <a:gdLst/>
            <a:ahLst/>
            <a:cxnLst/>
            <a:rect l="l" t="t" r="r" b="b"/>
            <a:pathLst>
              <a:path w="5886060" h="6356958">
                <a:moveTo>
                  <a:pt x="0" y="0"/>
                </a:moveTo>
                <a:lnTo>
                  <a:pt x="5886060" y="0"/>
                </a:lnTo>
                <a:lnTo>
                  <a:pt x="5886060" y="6356958"/>
                </a:lnTo>
                <a:lnTo>
                  <a:pt x="0" y="6356958"/>
                </a:lnTo>
                <a:lnTo>
                  <a:pt x="0" y="0"/>
                </a:lnTo>
                <a:close/>
              </a:path>
            </a:pathLst>
          </a:custGeom>
          <a:blipFill>
            <a:blip r:embed="rId5"/>
            <a:stretch>
              <a:fillRect l="-7595"/>
            </a:stretch>
          </a:blipFill>
        </p:spPr>
        <p:txBody>
          <a:bodyPr/>
          <a:lstStyle/>
          <a:p>
            <a:endParaRPr lang="en-US" dirty="0"/>
          </a:p>
        </p:txBody>
      </p:sp>
      <p:sp>
        <p:nvSpPr>
          <p:cNvPr id="6" name="Freeform 6"/>
          <p:cNvSpPr/>
          <p:nvPr/>
        </p:nvSpPr>
        <p:spPr>
          <a:xfrm>
            <a:off x="6334990" y="2559193"/>
            <a:ext cx="6066949" cy="6312258"/>
          </a:xfrm>
          <a:custGeom>
            <a:avLst/>
            <a:gdLst/>
            <a:ahLst/>
            <a:cxnLst/>
            <a:rect l="l" t="t" r="r" b="b"/>
            <a:pathLst>
              <a:path w="6066949" h="6312258">
                <a:moveTo>
                  <a:pt x="0" y="0"/>
                </a:moveTo>
                <a:lnTo>
                  <a:pt x="6066950" y="0"/>
                </a:lnTo>
                <a:lnTo>
                  <a:pt x="6066950" y="6312258"/>
                </a:lnTo>
                <a:lnTo>
                  <a:pt x="0" y="6312258"/>
                </a:lnTo>
                <a:lnTo>
                  <a:pt x="0" y="0"/>
                </a:lnTo>
                <a:close/>
              </a:path>
            </a:pathLst>
          </a:custGeom>
          <a:blipFill>
            <a:blip r:embed="rId6"/>
            <a:stretch>
              <a:fillRect l="-4185" r="-3214"/>
            </a:stretch>
          </a:blipFill>
        </p:spPr>
      </p:sp>
      <p:sp>
        <p:nvSpPr>
          <p:cNvPr id="7" name="TextBox 7"/>
          <p:cNvSpPr txBox="1"/>
          <p:nvPr/>
        </p:nvSpPr>
        <p:spPr>
          <a:xfrm>
            <a:off x="380078" y="1038225"/>
            <a:ext cx="17527844" cy="1520968"/>
          </a:xfrm>
          <a:prstGeom prst="rect">
            <a:avLst/>
          </a:prstGeom>
        </p:spPr>
        <p:txBody>
          <a:bodyPr lIns="0" tIns="0" rIns="0" bIns="0" rtlCol="0" anchor="t">
            <a:spAutoFit/>
          </a:bodyPr>
          <a:lstStyle/>
          <a:p>
            <a:pPr algn="ctr">
              <a:lnSpc>
                <a:spcPts val="11721"/>
              </a:lnSpc>
            </a:pPr>
            <a:r>
              <a:rPr lang="en-US" sz="10373" b="1">
                <a:solidFill>
                  <a:srgbClr val="FFFFFF"/>
                </a:solidFill>
                <a:latin typeface="Glacial Indifference Bold"/>
                <a:ea typeface="Glacial Indifference Bold"/>
                <a:cs typeface="Glacial Indifference Bold"/>
                <a:sym typeface="Glacial Indifference Bold"/>
              </a:rPr>
              <a:t>EXAMPLE AUTO-RESPONSE</a:t>
            </a:r>
          </a:p>
        </p:txBody>
      </p:sp>
      <p:sp>
        <p:nvSpPr>
          <p:cNvPr id="8" name="Rectangle: Rounded Corners 7">
            <a:extLst>
              <a:ext uri="{FF2B5EF4-FFF2-40B4-BE49-F238E27FC236}">
                <a16:creationId xmlns:a16="http://schemas.microsoft.com/office/drawing/2014/main" id="{742EEEA4-4DB3-067A-3762-0C94CE94A302}"/>
              </a:ext>
            </a:extLst>
          </p:cNvPr>
          <p:cNvSpPr/>
          <p:nvPr/>
        </p:nvSpPr>
        <p:spPr>
          <a:xfrm>
            <a:off x="13887338" y="7124700"/>
            <a:ext cx="2743200" cy="457200"/>
          </a:xfrm>
          <a:prstGeom prst="roundRect">
            <a:avLst/>
          </a:prstGeom>
        </p:spPr>
        <p:style>
          <a:lnRef idx="2">
            <a:schemeClr val="accent6"/>
          </a:lnRef>
          <a:fillRef idx="1">
            <a:schemeClr val="lt1"/>
          </a:fillRef>
          <a:effectRef idx="0">
            <a:schemeClr val="accent6"/>
          </a:effectRef>
          <a:fontRef idx="minor">
            <a:schemeClr val="dk1"/>
          </a:fontRef>
        </p:style>
        <p:txBody>
          <a:bodyPr rtlCol="0" anchor="ctr"/>
          <a:lstStyle/>
          <a:p>
            <a:r>
              <a:rPr lang="en-US" b="1" dirty="0"/>
              <a:t>Download Receipt Button</a:t>
            </a:r>
            <a:endParaRPr lang="en-US" dirty="0"/>
          </a:p>
        </p:txBody>
      </p:sp>
      <p:sp>
        <p:nvSpPr>
          <p:cNvPr id="13" name="Arrow: Right 12">
            <a:extLst>
              <a:ext uri="{FF2B5EF4-FFF2-40B4-BE49-F238E27FC236}">
                <a16:creationId xmlns:a16="http://schemas.microsoft.com/office/drawing/2014/main" id="{D21AC57F-2FA3-36B2-94AC-0F2908DE014C}"/>
              </a:ext>
            </a:extLst>
          </p:cNvPr>
          <p:cNvSpPr/>
          <p:nvPr/>
        </p:nvSpPr>
        <p:spPr>
          <a:xfrm rot="10800000">
            <a:off x="13182600" y="7231010"/>
            <a:ext cx="704738" cy="350889"/>
          </a:xfrm>
          <a:prstGeom prst="rightArrow">
            <a:avLst/>
          </a:prstGeom>
        </p:spPr>
        <p:style>
          <a:lnRef idx="2">
            <a:schemeClr val="accent6"/>
          </a:lnRef>
          <a:fillRef idx="1">
            <a:schemeClr val="lt1"/>
          </a:fillRef>
          <a:effectRef idx="0">
            <a:schemeClr val="accent6"/>
          </a:effectRef>
          <a:fontRef idx="minor">
            <a:schemeClr val="dk1"/>
          </a:fontRef>
        </p:style>
        <p:txBody>
          <a:bodyPr rtlCol="0" anchor="ctr"/>
          <a:lstStyle/>
          <a:p>
            <a:pPr algn="ctr"/>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flipH="1">
            <a:off x="0" y="0"/>
            <a:ext cx="18288000" cy="10287000"/>
          </a:xfrm>
          <a:custGeom>
            <a:avLst/>
            <a:gdLst/>
            <a:ahLst/>
            <a:cxnLst/>
            <a:rect l="l" t="t" r="r" b="b"/>
            <a:pathLst>
              <a:path w="18288000" h="10287000">
                <a:moveTo>
                  <a:pt x="18288000" y="0"/>
                </a:moveTo>
                <a:lnTo>
                  <a:pt x="0" y="0"/>
                </a:lnTo>
                <a:lnTo>
                  <a:pt x="0" y="10287000"/>
                </a:lnTo>
                <a:lnTo>
                  <a:pt x="18288000" y="10287000"/>
                </a:lnTo>
                <a:lnTo>
                  <a:pt x="18288000" y="0"/>
                </a:lnTo>
                <a:close/>
              </a:path>
            </a:pathLst>
          </a:custGeom>
          <a:blipFill>
            <a:blip r:embed="rId2"/>
            <a:stretch>
              <a:fillRect/>
            </a:stretch>
          </a:blipFill>
        </p:spPr>
      </p:sp>
      <p:sp>
        <p:nvSpPr>
          <p:cNvPr id="3" name="Freeform 3"/>
          <p:cNvSpPr/>
          <p:nvPr/>
        </p:nvSpPr>
        <p:spPr>
          <a:xfrm>
            <a:off x="631637" y="-450964"/>
            <a:ext cx="17024727" cy="10737964"/>
          </a:xfrm>
          <a:custGeom>
            <a:avLst/>
            <a:gdLst/>
            <a:ahLst/>
            <a:cxnLst/>
            <a:rect l="l" t="t" r="r" b="b"/>
            <a:pathLst>
              <a:path w="17024727" h="10737964">
                <a:moveTo>
                  <a:pt x="0" y="0"/>
                </a:moveTo>
                <a:lnTo>
                  <a:pt x="17024726" y="0"/>
                </a:lnTo>
                <a:lnTo>
                  <a:pt x="17024726" y="10737964"/>
                </a:lnTo>
                <a:lnTo>
                  <a:pt x="0" y="10737964"/>
                </a:lnTo>
                <a:lnTo>
                  <a:pt x="0" y="0"/>
                </a:lnTo>
                <a:close/>
              </a:path>
            </a:pathLst>
          </a:custGeom>
          <a:blipFill>
            <a:blip r:embed="rId3"/>
            <a:stretch>
              <a:fillRect t="-123699"/>
            </a:stretch>
          </a:blipFill>
        </p:spPr>
      </p:sp>
      <p:sp>
        <p:nvSpPr>
          <p:cNvPr id="4" name="Freeform 4"/>
          <p:cNvSpPr/>
          <p:nvPr/>
        </p:nvSpPr>
        <p:spPr>
          <a:xfrm>
            <a:off x="631637" y="2339799"/>
            <a:ext cx="7816821" cy="8537829"/>
          </a:xfrm>
          <a:custGeom>
            <a:avLst/>
            <a:gdLst/>
            <a:ahLst/>
            <a:cxnLst/>
            <a:rect l="l" t="t" r="r" b="b"/>
            <a:pathLst>
              <a:path w="7816821" h="8537829">
                <a:moveTo>
                  <a:pt x="0" y="0"/>
                </a:moveTo>
                <a:lnTo>
                  <a:pt x="7816821" y="0"/>
                </a:lnTo>
                <a:lnTo>
                  <a:pt x="7816821" y="8537829"/>
                </a:lnTo>
                <a:lnTo>
                  <a:pt x="0" y="8537829"/>
                </a:lnTo>
                <a:lnTo>
                  <a:pt x="0" y="0"/>
                </a:lnTo>
                <a:close/>
              </a:path>
            </a:pathLst>
          </a:custGeom>
          <a:blipFill>
            <a:blip r:embed="rId4"/>
            <a:stretch>
              <a:fillRect l="-1318" r="-1318"/>
            </a:stretch>
          </a:blipFill>
        </p:spPr>
      </p:sp>
      <p:sp>
        <p:nvSpPr>
          <p:cNvPr id="5" name="TextBox 5"/>
          <p:cNvSpPr txBox="1"/>
          <p:nvPr/>
        </p:nvSpPr>
        <p:spPr>
          <a:xfrm>
            <a:off x="380078" y="1038225"/>
            <a:ext cx="17527844" cy="1520968"/>
          </a:xfrm>
          <a:prstGeom prst="rect">
            <a:avLst/>
          </a:prstGeom>
        </p:spPr>
        <p:txBody>
          <a:bodyPr lIns="0" tIns="0" rIns="0" bIns="0" rtlCol="0" anchor="t">
            <a:spAutoFit/>
          </a:bodyPr>
          <a:lstStyle/>
          <a:p>
            <a:pPr algn="ctr">
              <a:lnSpc>
                <a:spcPts val="11721"/>
              </a:lnSpc>
            </a:pPr>
            <a:r>
              <a:rPr lang="en-US" sz="10373" b="1">
                <a:solidFill>
                  <a:srgbClr val="FFFFFF"/>
                </a:solidFill>
                <a:latin typeface="Glacial Indifference Bold"/>
                <a:ea typeface="Glacial Indifference Bold"/>
                <a:cs typeface="Glacial Indifference Bold"/>
                <a:sym typeface="Glacial Indifference Bold"/>
              </a:rPr>
              <a:t>EXAMPLE AUTO-RESPONSE</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flipH="1">
            <a:off x="0" y="0"/>
            <a:ext cx="18288000" cy="10287000"/>
          </a:xfrm>
          <a:custGeom>
            <a:avLst/>
            <a:gdLst/>
            <a:ahLst/>
            <a:cxnLst/>
            <a:rect l="l" t="t" r="r" b="b"/>
            <a:pathLst>
              <a:path w="18288000" h="10287000">
                <a:moveTo>
                  <a:pt x="18288000" y="0"/>
                </a:moveTo>
                <a:lnTo>
                  <a:pt x="0" y="0"/>
                </a:lnTo>
                <a:lnTo>
                  <a:pt x="0" y="10287000"/>
                </a:lnTo>
                <a:lnTo>
                  <a:pt x="18288000" y="10287000"/>
                </a:lnTo>
                <a:lnTo>
                  <a:pt x="18288000" y="0"/>
                </a:lnTo>
                <a:close/>
              </a:path>
            </a:pathLst>
          </a:custGeom>
          <a:blipFill>
            <a:blip r:embed="rId2"/>
            <a:stretch>
              <a:fillRect/>
            </a:stretch>
          </a:blipFill>
        </p:spPr>
      </p:sp>
      <p:sp>
        <p:nvSpPr>
          <p:cNvPr id="3" name="Freeform 3"/>
          <p:cNvSpPr/>
          <p:nvPr/>
        </p:nvSpPr>
        <p:spPr>
          <a:xfrm>
            <a:off x="4338336" y="-3273956"/>
            <a:ext cx="9611327" cy="13560956"/>
          </a:xfrm>
          <a:custGeom>
            <a:avLst/>
            <a:gdLst/>
            <a:ahLst/>
            <a:cxnLst/>
            <a:rect l="l" t="t" r="r" b="b"/>
            <a:pathLst>
              <a:path w="9611327" h="13560956">
                <a:moveTo>
                  <a:pt x="0" y="0"/>
                </a:moveTo>
                <a:lnTo>
                  <a:pt x="9611328" y="0"/>
                </a:lnTo>
                <a:lnTo>
                  <a:pt x="9611328" y="13560956"/>
                </a:lnTo>
                <a:lnTo>
                  <a:pt x="0" y="13560956"/>
                </a:lnTo>
                <a:lnTo>
                  <a:pt x="0" y="0"/>
                </a:lnTo>
                <a:close/>
              </a:path>
            </a:pathLst>
          </a:custGeom>
          <a:blipFill>
            <a:blip r:embed="rId3"/>
            <a:stretch>
              <a:fillRect/>
            </a:stretch>
          </a:blipFill>
        </p:spPr>
      </p:sp>
      <p:sp>
        <p:nvSpPr>
          <p:cNvPr id="4" name="TextBox 4"/>
          <p:cNvSpPr txBox="1"/>
          <p:nvPr/>
        </p:nvSpPr>
        <p:spPr>
          <a:xfrm>
            <a:off x="5243404" y="5626628"/>
            <a:ext cx="7801192" cy="555249"/>
          </a:xfrm>
          <a:prstGeom prst="rect">
            <a:avLst/>
          </a:prstGeom>
        </p:spPr>
        <p:txBody>
          <a:bodyPr lIns="0" tIns="0" rIns="0" bIns="0" rtlCol="0" anchor="t">
            <a:spAutoFit/>
          </a:bodyPr>
          <a:lstStyle/>
          <a:p>
            <a:pPr algn="ctr">
              <a:lnSpc>
                <a:spcPts val="4570"/>
              </a:lnSpc>
            </a:pPr>
            <a:r>
              <a:rPr lang="en-US" sz="3264">
                <a:solidFill>
                  <a:srgbClr val="FFFFFF"/>
                </a:solidFill>
                <a:latin typeface="HK Grotesk"/>
                <a:ea typeface="HK Grotesk"/>
                <a:cs typeface="HK Grotesk"/>
                <a:sym typeface="HK Grotesk"/>
              </a:rPr>
              <a:t>HELL FIRE TEAM</a:t>
            </a:r>
          </a:p>
        </p:txBody>
      </p:sp>
      <p:sp>
        <p:nvSpPr>
          <p:cNvPr id="5" name="TextBox 5"/>
          <p:cNvSpPr txBox="1"/>
          <p:nvPr/>
        </p:nvSpPr>
        <p:spPr>
          <a:xfrm>
            <a:off x="6545422" y="6345470"/>
            <a:ext cx="4855878" cy="1590675"/>
          </a:xfrm>
          <a:prstGeom prst="rect">
            <a:avLst/>
          </a:prstGeom>
        </p:spPr>
        <p:txBody>
          <a:bodyPr lIns="0" tIns="0" rIns="0" bIns="0" rtlCol="0" anchor="t">
            <a:spAutoFit/>
          </a:bodyPr>
          <a:lstStyle/>
          <a:p>
            <a:pPr algn="ctr">
              <a:lnSpc>
                <a:spcPts val="4200"/>
              </a:lnSpc>
            </a:pPr>
            <a:r>
              <a:rPr lang="en-US" sz="3000" i="1">
                <a:solidFill>
                  <a:srgbClr val="FFFFFF"/>
                </a:solidFill>
                <a:latin typeface="HK Grotesk Italics"/>
                <a:ea typeface="HK Grotesk Italics"/>
                <a:cs typeface="HK Grotesk Italics"/>
                <a:sym typeface="HK Grotesk Italics"/>
              </a:rPr>
              <a:t>Khalid Eyad</a:t>
            </a:r>
          </a:p>
          <a:p>
            <a:pPr algn="ctr">
              <a:lnSpc>
                <a:spcPts val="4200"/>
              </a:lnSpc>
            </a:pPr>
            <a:r>
              <a:rPr lang="en-US" sz="3000" i="1">
                <a:solidFill>
                  <a:srgbClr val="FFFFFF"/>
                </a:solidFill>
                <a:latin typeface="HK Grotesk Italics"/>
                <a:ea typeface="HK Grotesk Italics"/>
                <a:cs typeface="HK Grotesk Italics"/>
                <a:sym typeface="HK Grotesk Italics"/>
              </a:rPr>
              <a:t>Leen Albadda</a:t>
            </a:r>
          </a:p>
          <a:p>
            <a:pPr algn="ctr">
              <a:lnSpc>
                <a:spcPts val="4200"/>
              </a:lnSpc>
            </a:pPr>
            <a:r>
              <a:rPr lang="en-US" sz="3000" i="1">
                <a:solidFill>
                  <a:srgbClr val="FFFFFF"/>
                </a:solidFill>
                <a:latin typeface="HK Grotesk Italics"/>
                <a:ea typeface="HK Grotesk Italics"/>
                <a:cs typeface="HK Grotesk Italics"/>
                <a:sym typeface="HK Grotesk Italics"/>
              </a:rPr>
              <a:t>Mohammed Abdallah</a:t>
            </a:r>
          </a:p>
        </p:txBody>
      </p:sp>
      <p:sp>
        <p:nvSpPr>
          <p:cNvPr id="6" name="TextBox 6"/>
          <p:cNvSpPr txBox="1"/>
          <p:nvPr/>
        </p:nvSpPr>
        <p:spPr>
          <a:xfrm>
            <a:off x="4651632" y="4171798"/>
            <a:ext cx="8984736" cy="1451033"/>
          </a:xfrm>
          <a:prstGeom prst="rect">
            <a:avLst/>
          </a:prstGeom>
        </p:spPr>
        <p:txBody>
          <a:bodyPr lIns="0" tIns="0" rIns="0" bIns="0" rtlCol="0" anchor="t">
            <a:spAutoFit/>
          </a:bodyPr>
          <a:lstStyle/>
          <a:p>
            <a:pPr algn="ctr">
              <a:lnSpc>
                <a:spcPts val="11307"/>
              </a:lnSpc>
            </a:pPr>
            <a:r>
              <a:rPr lang="en-US" sz="10006" b="1">
                <a:solidFill>
                  <a:srgbClr val="FFFFFF"/>
                </a:solidFill>
                <a:latin typeface="Glacial Indifference Bold"/>
                <a:ea typeface="Glacial Indifference Bold"/>
                <a:cs typeface="Glacial Indifference Bold"/>
                <a:sym typeface="Glacial Indifference Bold"/>
              </a:rPr>
              <a:t>THANK YOU!</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63</TotalTime>
  <Words>326</Words>
  <Application>Microsoft Office PowerPoint</Application>
  <PresentationFormat>Custom</PresentationFormat>
  <Paragraphs>25</Paragraphs>
  <Slides>8</Slides>
  <Notes>0</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8</vt:i4>
      </vt:variant>
    </vt:vector>
  </HeadingPairs>
  <TitlesOfParts>
    <vt:vector size="15" baseType="lpstr">
      <vt:lpstr>HK Grotesk Italics</vt:lpstr>
      <vt:lpstr>Glacial Indifference Bold</vt:lpstr>
      <vt:lpstr>Arial</vt:lpstr>
      <vt:lpstr>Calibri</vt:lpstr>
      <vt:lpstr>HK Grotesk</vt:lpstr>
      <vt:lpstr>HK Grotesk Bold</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Blue and Green Modern Artificial Intelligence Presentation</dc:title>
  <cp:lastModifiedBy>Leen Albadda</cp:lastModifiedBy>
  <cp:revision>2</cp:revision>
  <cp:lastPrinted>2026-02-07T14:43:10Z</cp:lastPrinted>
  <dcterms:created xsi:type="dcterms:W3CDTF">2006-08-16T00:00:00Z</dcterms:created>
  <dcterms:modified xsi:type="dcterms:W3CDTF">2026-02-07T14:44:20Z</dcterms:modified>
  <dc:identifier>DAHApGg2FKc</dc:identifier>
</cp:coreProperties>
</file>